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1A3E3-2EF7-46EB-A6F8-D432E6D881AC}" v="24" dt="2026-05-18T09:55:59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3313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807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905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707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59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971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9111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4954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4401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5542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52252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5624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369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5007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44568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0157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758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25C09-89A4-43AB-A09C-D6FEA415DA51}" type="datetimeFigureOut">
              <a:rPr lang="ro-RO" smtClean="0"/>
              <a:t>18.05.2026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5D50E-5AEF-4E7B-9F1B-4F6BCBCF078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8957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9779A2D-07E6-2DD7-D15B-28D212053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-695960"/>
            <a:ext cx="9144000" cy="2387600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ro-RO" b="1" u="sng" dirty="0">
                <a:solidFill>
                  <a:srgbClr val="002060"/>
                </a:solidFill>
              </a:rPr>
              <a:t>Retail </a:t>
            </a:r>
            <a:r>
              <a:rPr lang="ro-RO" b="1" u="sng" dirty="0" err="1">
                <a:solidFill>
                  <a:srgbClr val="002060"/>
                </a:solidFill>
              </a:rPr>
              <a:t>Dynamic</a:t>
            </a:r>
            <a:r>
              <a:rPr lang="ro-RO" b="1" u="sng" dirty="0">
                <a:solidFill>
                  <a:srgbClr val="002060"/>
                </a:solidFill>
              </a:rPr>
              <a:t> </a:t>
            </a:r>
            <a:r>
              <a:rPr lang="ro-RO" b="1" u="sng" dirty="0" err="1">
                <a:solidFill>
                  <a:srgbClr val="002060"/>
                </a:solidFill>
              </a:rPr>
              <a:t>Pricing</a:t>
            </a:r>
            <a:endParaRPr lang="ro-RO" b="1" u="sng" dirty="0">
              <a:solidFill>
                <a:srgbClr val="002060"/>
              </a:solidFill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ECB3D53B-6DC0-EB7C-B4C9-E3958BF68622}"/>
              </a:ext>
            </a:extLst>
          </p:cNvPr>
          <p:cNvSpPr txBox="1"/>
          <p:nvPr/>
        </p:nvSpPr>
        <p:spPr>
          <a:xfrm>
            <a:off x="1470660" y="2880360"/>
            <a:ext cx="9067799" cy="147732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 </a:t>
            </a:r>
            <a:r>
              <a:rPr lang="ro-RO" sz="2400" b="1" dirty="0">
                <a:solidFill>
                  <a:srgbClr val="0070C0"/>
                </a:solidFill>
              </a:rPr>
              <a:t>Motor de Optimizare a Prețurilor și Gestiune de Catalog</a:t>
            </a:r>
          </a:p>
          <a:p>
            <a:pPr algn="ctr"/>
            <a:endParaRPr lang="en-US" sz="2400" b="1" dirty="0">
              <a:solidFill>
                <a:srgbClr val="0070C0"/>
              </a:solidFill>
            </a:endParaRP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	</a:t>
            </a:r>
            <a:r>
              <a:rPr lang="ro-RO" sz="2400" b="1" dirty="0" err="1">
                <a:solidFill>
                  <a:srgbClr val="0070C0"/>
                </a:solidFill>
              </a:rPr>
              <a:t>Python</a:t>
            </a:r>
            <a:r>
              <a:rPr lang="ro-RO" sz="2400" b="1" dirty="0">
                <a:solidFill>
                  <a:srgbClr val="0070C0"/>
                </a:solidFill>
              </a:rPr>
              <a:t> | </a:t>
            </a:r>
            <a:r>
              <a:rPr lang="ro-RO" sz="2400" b="1" dirty="0" err="1">
                <a:solidFill>
                  <a:srgbClr val="0070C0"/>
                </a:solidFill>
              </a:rPr>
              <a:t>Streamlit</a:t>
            </a:r>
            <a:r>
              <a:rPr lang="ro-RO" sz="2400" b="1" dirty="0">
                <a:solidFill>
                  <a:srgbClr val="0070C0"/>
                </a:solidFill>
              </a:rPr>
              <a:t> | Analiză Competitivă Altex</a:t>
            </a:r>
          </a:p>
          <a:p>
            <a:pPr algn="ctr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19965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04208E7-BFED-2E4D-EC83-A8F09B1E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6088" y="-758952"/>
            <a:ext cx="10515600" cy="3986784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ro-RO" b="1" u="sng" dirty="0">
                <a:solidFill>
                  <a:srgbClr val="002060"/>
                </a:solidFill>
              </a:rPr>
              <a:t>Viziunea și Obiectivele</a:t>
            </a:r>
            <a:br>
              <a:rPr lang="ro-RO" b="1" dirty="0"/>
            </a:br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2801202-3A24-546C-E050-78BC19C57A6D}"/>
              </a:ext>
            </a:extLst>
          </p:cNvPr>
          <p:cNvSpPr txBox="1"/>
          <p:nvPr/>
        </p:nvSpPr>
        <p:spPr>
          <a:xfrm>
            <a:off x="838200" y="2043852"/>
            <a:ext cx="4647184" cy="178510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Provocarea</a:t>
            </a:r>
            <a:r>
              <a:rPr lang="en-US" b="1" dirty="0">
                <a:solidFill>
                  <a:srgbClr val="0070C0"/>
                </a:solidFill>
              </a:rPr>
              <a:t> Retail</a:t>
            </a:r>
          </a:p>
          <a:p>
            <a:r>
              <a:rPr lang="en-US" dirty="0"/>
              <a:t>  </a:t>
            </a:r>
          </a:p>
          <a:p>
            <a:r>
              <a:rPr lang="ro-RO" sz="1400" dirty="0"/>
              <a:t>Într-o piață extrem de competitivă, monitorizarea manuală a mii de produse este imposibilă. Avem nevoie de un sistem care să reacționeze instantaneu la schimbările competitorilor</a:t>
            </a:r>
            <a:br>
              <a:rPr lang="ro-RO" dirty="0"/>
            </a:br>
            <a:endParaRPr lang="ro-RO" dirty="0"/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02879AD7-30F8-6A60-964D-C8DA65AAEE98}"/>
              </a:ext>
            </a:extLst>
          </p:cNvPr>
          <p:cNvSpPr txBox="1"/>
          <p:nvPr/>
        </p:nvSpPr>
        <p:spPr>
          <a:xfrm>
            <a:off x="6505725" y="2171868"/>
            <a:ext cx="4430499" cy="113877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70C0"/>
                </a:solidFill>
              </a:rPr>
              <a:t>Obiectivul Sistemului</a:t>
            </a:r>
          </a:p>
          <a:p>
            <a:r>
              <a:rPr lang="ro-RO" dirty="0"/>
              <a:t>		</a:t>
            </a:r>
          </a:p>
          <a:p>
            <a:r>
              <a:rPr lang="ro-RO" dirty="0"/>
              <a:t>  </a:t>
            </a:r>
            <a:r>
              <a:rPr lang="ro-RO" sz="1400" dirty="0"/>
              <a:t>Calcularea automată a prețului de etichetă astfel încât, după aplicarea tuturor </a:t>
            </a:r>
            <a:r>
              <a:rPr lang="ro-RO" sz="1400" dirty="0" err="1"/>
              <a:t>discou</a:t>
            </a: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3223625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B5567D2-FD52-3DEA-3F64-2DCE8833B229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ro-RO" b="1" u="sng" dirty="0">
                <a:solidFill>
                  <a:srgbClr val="002060"/>
                </a:solidFill>
              </a:rPr>
              <a:t>Tehnologii Utilizate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E8F37EE5-16F8-0864-4C97-932BE34646E7}"/>
              </a:ext>
            </a:extLst>
          </p:cNvPr>
          <p:cNvSpPr txBox="1"/>
          <p:nvPr/>
        </p:nvSpPr>
        <p:spPr>
          <a:xfrm>
            <a:off x="585216" y="2048255"/>
            <a:ext cx="3364992" cy="129266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ro-RO" b="1" dirty="0" err="1">
                <a:solidFill>
                  <a:srgbClr val="0070C0"/>
                </a:solidFill>
              </a:rPr>
              <a:t>Python</a:t>
            </a:r>
            <a:r>
              <a:rPr lang="ro-RO" b="1" dirty="0">
                <a:solidFill>
                  <a:srgbClr val="0070C0"/>
                </a:solidFill>
              </a:rPr>
              <a:t> 3</a:t>
            </a:r>
          </a:p>
          <a:p>
            <a:endParaRPr lang="ro-RO" dirty="0"/>
          </a:p>
          <a:p>
            <a:r>
              <a:rPr lang="ro-RO" sz="1400" dirty="0">
                <a:solidFill>
                  <a:srgbClr val="0070C0"/>
                </a:solidFill>
              </a:rPr>
              <a:t> </a:t>
            </a:r>
            <a:r>
              <a:rPr lang="ro-RO" sz="1400" dirty="0"/>
              <a:t>Limbajul de bază pentru procesarea datelor și implementarea logicii matematice complexe.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8162E284-2D0B-DA17-44CD-1F79BB0AB10C}"/>
              </a:ext>
            </a:extLst>
          </p:cNvPr>
          <p:cNvSpPr txBox="1"/>
          <p:nvPr/>
        </p:nvSpPr>
        <p:spPr>
          <a:xfrm>
            <a:off x="4114800" y="2017478"/>
            <a:ext cx="3694176" cy="135421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b="1" dirty="0" err="1">
                <a:solidFill>
                  <a:srgbClr val="0070C0"/>
                </a:solidFill>
              </a:rPr>
              <a:t>Streamlit</a:t>
            </a:r>
            <a:endParaRPr lang="ro-RO" b="1" dirty="0">
              <a:solidFill>
                <a:srgbClr val="0070C0"/>
              </a:solidFill>
            </a:endParaRPr>
          </a:p>
          <a:p>
            <a:r>
              <a:rPr lang="ro-RO" dirty="0"/>
              <a:t>	</a:t>
            </a:r>
          </a:p>
          <a:p>
            <a:r>
              <a:rPr lang="ro-RO" dirty="0"/>
              <a:t> </a:t>
            </a:r>
            <a:r>
              <a:rPr lang="ro-RO" sz="1400" dirty="0"/>
              <a:t>Framework pentru crearea rapidă a interfeței grafice, transformând scripturile în aplicații web interactive.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31BB7559-F9C7-C6DA-2E8F-29BAB49E29E3}"/>
              </a:ext>
            </a:extLst>
          </p:cNvPr>
          <p:cNvSpPr txBox="1"/>
          <p:nvPr/>
        </p:nvSpPr>
        <p:spPr>
          <a:xfrm>
            <a:off x="8244840" y="2089725"/>
            <a:ext cx="3361944" cy="135421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b="1" dirty="0" err="1">
                <a:solidFill>
                  <a:srgbClr val="0070C0"/>
                </a:solidFill>
              </a:rPr>
              <a:t>Pandas</a:t>
            </a:r>
            <a:endParaRPr lang="ro-RO" b="1" dirty="0">
              <a:solidFill>
                <a:srgbClr val="0070C0"/>
              </a:solidFill>
            </a:endParaRPr>
          </a:p>
          <a:p>
            <a:endParaRPr lang="ro-RO" dirty="0"/>
          </a:p>
          <a:p>
            <a:r>
              <a:rPr lang="ro-RO" dirty="0"/>
              <a:t> </a:t>
            </a:r>
            <a:r>
              <a:rPr lang="ro-RO" sz="1400" dirty="0"/>
              <a:t>Biblioteca fundamentală pentru manipularea și analiza structurată a datelor (</a:t>
            </a:r>
            <a:r>
              <a:rPr lang="ro-RO" sz="1400" dirty="0" err="1"/>
              <a:t>DataFrames</a:t>
            </a:r>
            <a:r>
              <a:rPr lang="ro-RO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4893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0A4BF67-436B-F1C6-CB13-D4ECA1E73A74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ro-RO" b="1" u="sng">
                <a:solidFill>
                  <a:srgbClr val="002060"/>
                </a:solidFill>
              </a:rPr>
              <a:t>Infrastructura de Date</a:t>
            </a:r>
            <a:r>
              <a:rPr lang="en-US" b="1" u="sng">
                <a:solidFill>
                  <a:srgbClr val="002060"/>
                </a:solidFill>
              </a:rPr>
              <a:t>: load_data</a:t>
            </a:r>
            <a:endParaRPr lang="ro-RO" b="1" u="sng" dirty="0">
              <a:solidFill>
                <a:srgbClr val="002060"/>
              </a:solidFill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99083883-72B5-4055-DBE4-84C233924356}"/>
              </a:ext>
            </a:extLst>
          </p:cNvPr>
          <p:cNvSpPr txBox="1"/>
          <p:nvPr/>
        </p:nvSpPr>
        <p:spPr>
          <a:xfrm>
            <a:off x="694944" y="2121408"/>
            <a:ext cx="8238744" cy="15696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70C0"/>
                </a:solidFill>
              </a:rPr>
              <a:t>Funcția </a:t>
            </a:r>
            <a:r>
              <a:rPr lang="ro-RO" b="1" dirty="0" err="1">
                <a:solidFill>
                  <a:srgbClr val="0070C0"/>
                </a:solidFill>
              </a:rPr>
              <a:t>load_data_from_catalog</a:t>
            </a:r>
            <a:r>
              <a:rPr lang="ro-RO" b="1" dirty="0">
                <a:solidFill>
                  <a:srgbClr val="0070C0"/>
                </a:solidFill>
              </a:rPr>
              <a:t> este </a:t>
            </a:r>
            <a:r>
              <a:rPr lang="en-US" b="1" dirty="0">
                <a:solidFill>
                  <a:srgbClr val="0070C0"/>
                </a:solidFill>
              </a:rPr>
              <a:t>“</a:t>
            </a:r>
            <a:r>
              <a:rPr lang="ro-RO" b="1" dirty="0">
                <a:solidFill>
                  <a:srgbClr val="0070C0"/>
                </a:solidFill>
              </a:rPr>
              <a:t>ușa de </a:t>
            </a:r>
            <a:r>
              <a:rPr lang="ro-RO" b="1" dirty="0" err="1">
                <a:solidFill>
                  <a:srgbClr val="0070C0"/>
                </a:solidFill>
              </a:rPr>
              <a:t>intrar</a:t>
            </a:r>
            <a:r>
              <a:rPr lang="en-US" b="1" dirty="0">
                <a:solidFill>
                  <a:srgbClr val="0070C0"/>
                </a:solidFill>
              </a:rPr>
              <a:t>”</a:t>
            </a:r>
            <a:r>
              <a:rPr lang="ro-RO" b="1" dirty="0">
                <a:solidFill>
                  <a:srgbClr val="0070C0"/>
                </a:solidFill>
              </a:rPr>
              <a:t> a sistemului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ro-RO" sz="1400" dirty="0"/>
              <a:t>Deschide fișierul</a:t>
            </a:r>
            <a:r>
              <a:rPr lang="en-US" sz="1400" dirty="0"/>
              <a:t> </a:t>
            </a:r>
            <a:r>
              <a:rPr lang="en-US" sz="1400" dirty="0" err="1"/>
              <a:t>c.text</a:t>
            </a:r>
            <a:r>
              <a:rPr lang="en-US" sz="1400" dirty="0"/>
              <a:t> </a:t>
            </a:r>
            <a:r>
              <a:rPr lang="ro-RO" sz="1400" dirty="0"/>
              <a:t>în mod securizat (UTF-8).</a:t>
            </a:r>
          </a:p>
          <a:p>
            <a:r>
              <a:rPr lang="ro-RO" sz="1400" dirty="0"/>
              <a:t> Curăță liniile goale și spațiile reziduale.</a:t>
            </a:r>
          </a:p>
          <a:p>
            <a:r>
              <a:rPr lang="ro-RO" sz="1400" dirty="0"/>
              <a:t> Parcurge textul brut în obiecte </a:t>
            </a:r>
            <a:r>
              <a:rPr lang="ro-RO" sz="1400" dirty="0" err="1"/>
              <a:t>Python</a:t>
            </a:r>
            <a:r>
              <a:rPr lang="ro-RO" sz="1400" dirty="0"/>
              <a:t> structurate (liste de </a:t>
            </a:r>
            <a:r>
              <a:rPr lang="ro-RO" sz="1400" dirty="0" err="1"/>
              <a:t>diționare</a:t>
            </a:r>
            <a:r>
              <a:rPr lang="ro-RO" sz="1400" dirty="0"/>
              <a:t>).</a:t>
            </a:r>
          </a:p>
          <a:p>
            <a:r>
              <a:rPr lang="ro-RO" sz="1400" dirty="0"/>
              <a:t> </a:t>
            </a:r>
            <a:r>
              <a:rPr lang="ro-RO" sz="1400" dirty="0" err="1"/>
              <a:t>Try-Except</a:t>
            </a:r>
            <a:r>
              <a:rPr lang="en-US" sz="1400" dirty="0"/>
              <a:t>: I</a:t>
            </a:r>
            <a:r>
              <a:rPr lang="ro-RO" sz="1400" dirty="0" err="1"/>
              <a:t>gnoră</a:t>
            </a:r>
            <a:r>
              <a:rPr lang="ro-RO" sz="1400" dirty="0"/>
              <a:t> rândurile corupte pentru a preveni </a:t>
            </a:r>
            <a:r>
              <a:rPr lang="ro-RO" sz="1400" dirty="0" err="1"/>
              <a:t>crash-ul</a:t>
            </a:r>
            <a:r>
              <a:rPr lang="ro-RO" sz="1400" dirty="0"/>
              <a:t> aplicației.</a:t>
            </a:r>
          </a:p>
        </p:txBody>
      </p:sp>
    </p:spTree>
    <p:extLst>
      <p:ext uri="{BB962C8B-B14F-4D97-AF65-F5344CB8AC3E}">
        <p14:creationId xmlns:p14="http://schemas.microsoft.com/office/powerpoint/2010/main" val="265625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6E6BE5F-70B0-4299-1B4F-B2A6CB090B9C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ro-RO" b="1" u="sng">
                <a:solidFill>
                  <a:srgbClr val="002060"/>
                </a:solidFill>
              </a:rPr>
              <a:t>Parcurgeerea Robustă cu Regex</a:t>
            </a:r>
            <a:br>
              <a:rPr lang="ro-RO" b="1"/>
            </a:br>
            <a:endParaRPr lang="ro-RO" b="1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49F287AC-A9B8-03D7-5CD6-7C6C2CD38611}"/>
              </a:ext>
            </a:extLst>
          </p:cNvPr>
          <p:cNvSpPr txBox="1"/>
          <p:nvPr/>
        </p:nvSpPr>
        <p:spPr>
          <a:xfrm>
            <a:off x="356616" y="1764792"/>
            <a:ext cx="8494776" cy="206210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70C0"/>
                </a:solidFill>
              </a:rPr>
              <a:t>Am utilizat modulul re (Regular </a:t>
            </a:r>
            <a:r>
              <a:rPr lang="ro-RO" b="1" dirty="0" err="1">
                <a:solidFill>
                  <a:srgbClr val="0070C0"/>
                </a:solidFill>
              </a:rPr>
              <a:t>Expressions</a:t>
            </a:r>
            <a:r>
              <a:rPr lang="ro-RO" b="1" dirty="0">
                <a:solidFill>
                  <a:srgbClr val="0070C0"/>
                </a:solidFill>
              </a:rPr>
              <a:t>) pentru a gestiona inconsistențele din fișierul sursă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ro-RO" sz="1400" dirty="0"/>
              <a:t>Separator Flexibil</a:t>
            </a:r>
            <a:r>
              <a:rPr lang="en-US" sz="1400" dirty="0"/>
              <a:t>: </a:t>
            </a:r>
            <a:r>
              <a:rPr lang="en-US" sz="1400" dirty="0" err="1"/>
              <a:t>re.split</a:t>
            </a:r>
            <a:r>
              <a:rPr lang="en-US" sz="1400" dirty="0"/>
              <a:t>(</a:t>
            </a:r>
            <a:r>
              <a:rPr lang="ro-RO" sz="1400" dirty="0"/>
              <a:t>r</a:t>
            </a:r>
            <a:r>
              <a:rPr lang="en-US" sz="1400" dirty="0"/>
              <a:t>’\t| {2,}’) – </a:t>
            </a:r>
            <a:r>
              <a:rPr lang="en-US" sz="1400" dirty="0" err="1"/>
              <a:t>permite</a:t>
            </a:r>
            <a:r>
              <a:rPr lang="en-US" sz="1400" dirty="0"/>
              <a:t> </a:t>
            </a:r>
            <a:r>
              <a:rPr lang="ro-RO" sz="1400" dirty="0"/>
              <a:t>împărțirea rândurilor fie prin TAB, fie prin grupuri de minim două spații.</a:t>
            </a:r>
          </a:p>
          <a:p>
            <a:r>
              <a:rPr lang="ro-RO" sz="1400" dirty="0"/>
              <a:t>      Curățarea Prețului</a:t>
            </a:r>
            <a:r>
              <a:rPr lang="en-US" sz="1400" dirty="0"/>
              <a:t>: </a:t>
            </a:r>
            <a:r>
              <a:rPr lang="en-US" sz="1400" dirty="0" err="1"/>
              <a:t>Eliminarea</a:t>
            </a:r>
            <a:r>
              <a:rPr lang="en-US" sz="1400" dirty="0"/>
              <a:t> string-ul “RON” </a:t>
            </a:r>
            <a:r>
              <a:rPr lang="ro-RO" sz="1400" dirty="0"/>
              <a:t>și înlocuirea virgulei cu punct pentru conversia sigură la </a:t>
            </a:r>
            <a:r>
              <a:rPr lang="ro-RO" sz="1400" dirty="0" err="1"/>
              <a:t>float</a:t>
            </a:r>
            <a:r>
              <a:rPr lang="ro-RO" sz="1400" dirty="0"/>
              <a:t>.</a:t>
            </a:r>
          </a:p>
          <a:p>
            <a:r>
              <a:rPr lang="ro-RO" sz="1400" dirty="0"/>
              <a:t>      Normalizare</a:t>
            </a:r>
            <a:r>
              <a:rPr lang="en-US" sz="1400" dirty="0"/>
              <a:t>: A</a:t>
            </a:r>
            <a:r>
              <a:rPr lang="ro-RO" sz="1400" dirty="0"/>
              <a:t>sigură că </a:t>
            </a:r>
            <a:r>
              <a:rPr lang="ro-RO" sz="1400" dirty="0" err="1"/>
              <a:t>pețurile</a:t>
            </a:r>
            <a:r>
              <a:rPr lang="ro-RO" sz="1400" dirty="0"/>
              <a:t> precum </a:t>
            </a:r>
            <a:r>
              <a:rPr lang="en-US" sz="1400" dirty="0"/>
              <a:t>“1.499,90 RON” </a:t>
            </a:r>
            <a:r>
              <a:rPr lang="en-US" sz="1400" dirty="0" err="1"/>
              <a:t>devin</a:t>
            </a:r>
            <a:r>
              <a:rPr lang="en-US" sz="1400" dirty="0"/>
              <a:t> “1499.90” gata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calcule</a:t>
            </a:r>
            <a:r>
              <a:rPr lang="en-US" sz="1400" dirty="0"/>
              <a:t>.</a:t>
            </a: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367699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4722CA-A200-718F-25F7-9FF841254652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u="sng">
                <a:solidFill>
                  <a:srgbClr val="002060"/>
                </a:solidFill>
              </a:rPr>
              <a:t>Session State: Memoria Aplica</a:t>
            </a:r>
            <a:r>
              <a:rPr lang="ro-RO" b="1" u="sng">
                <a:solidFill>
                  <a:srgbClr val="002060"/>
                </a:solidFill>
              </a:rPr>
              <a:t>ției</a:t>
            </a:r>
            <a:br>
              <a:rPr lang="ro-RO"/>
            </a:br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687AE1C7-A2EA-6B8C-7BD2-6491684DC031}"/>
              </a:ext>
            </a:extLst>
          </p:cNvPr>
          <p:cNvSpPr txBox="1"/>
          <p:nvPr/>
        </p:nvSpPr>
        <p:spPr>
          <a:xfrm>
            <a:off x="649224" y="2136338"/>
            <a:ext cx="6848856" cy="258532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dirty="0" err="1">
                <a:solidFill>
                  <a:srgbClr val="0070C0"/>
                </a:solidFill>
              </a:rPr>
              <a:t>st.session_state</a:t>
            </a:r>
            <a:endParaRPr lang="ro-RO" dirty="0">
              <a:solidFill>
                <a:srgbClr val="0070C0"/>
              </a:solidFill>
            </a:endParaRPr>
          </a:p>
          <a:p>
            <a:r>
              <a:rPr lang="ro-RO" dirty="0"/>
              <a:t> </a:t>
            </a:r>
          </a:p>
          <a:p>
            <a:r>
              <a:rPr lang="ro-RO" dirty="0"/>
              <a:t>   Spre deosebire de scripturile clasice care </a:t>
            </a:r>
            <a:r>
              <a:rPr lang="en-US" dirty="0"/>
              <a:t>“</a:t>
            </a:r>
            <a:r>
              <a:rPr lang="en-US" dirty="0" err="1"/>
              <a:t>ui</a:t>
            </a:r>
            <a:r>
              <a:rPr lang="ro-RO" dirty="0" err="1"/>
              <a:t>tă</a:t>
            </a:r>
            <a:r>
              <a:rPr lang="en-US" dirty="0"/>
              <a:t>” </a:t>
            </a:r>
            <a:r>
              <a:rPr lang="en-US" dirty="0" err="1"/>
              <a:t>totul</a:t>
            </a:r>
            <a:r>
              <a:rPr lang="en-US" dirty="0"/>
              <a:t> la r</a:t>
            </a:r>
            <a:r>
              <a:rPr lang="ro-RO" dirty="0" err="1"/>
              <a:t>eîncărcaree</a:t>
            </a:r>
            <a:r>
              <a:rPr lang="ro-RO" dirty="0"/>
              <a:t>, am </a:t>
            </a:r>
            <a:r>
              <a:rPr lang="ro-RO" dirty="0" err="1"/>
              <a:t>folosti</a:t>
            </a:r>
            <a:r>
              <a:rPr lang="ro-RO" dirty="0"/>
              <a:t> </a:t>
            </a:r>
            <a:r>
              <a:rPr lang="ro-RO" dirty="0" err="1"/>
              <a:t>Session</a:t>
            </a:r>
            <a:r>
              <a:rPr lang="ro-RO" dirty="0"/>
              <a:t> State pentru a păstra produsele adăugate de utilizator.</a:t>
            </a:r>
          </a:p>
          <a:p>
            <a:r>
              <a:rPr lang="ro-RO" dirty="0"/>
              <a:t>    </a:t>
            </a:r>
          </a:p>
          <a:p>
            <a:r>
              <a:rPr lang="ro-RO" dirty="0"/>
              <a:t>   Acest mecanism permite persistența datelor pe durata întregii sesiuni de lucru, oferind o experiență de utilizator fluidă.</a:t>
            </a:r>
          </a:p>
          <a:p>
            <a:r>
              <a:rPr lang="ro-R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874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B17D24D-E07C-063D-676A-D7991C63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u="sng" dirty="0">
                <a:solidFill>
                  <a:srgbClr val="002060"/>
                </a:solidFill>
              </a:rPr>
              <a:t>Motorul de calcul</a:t>
            </a:r>
            <a:r>
              <a:rPr lang="en-US" u="sng" dirty="0">
                <a:solidFill>
                  <a:srgbClr val="002060"/>
                </a:solidFill>
              </a:rPr>
              <a:t>: Logic</a:t>
            </a:r>
            <a:r>
              <a:rPr lang="ro-RO" u="sng" dirty="0">
                <a:solidFill>
                  <a:srgbClr val="002060"/>
                </a:solidFill>
              </a:rPr>
              <a:t>ă business</a:t>
            </a:r>
            <a:br>
              <a:rPr lang="ro-RO" dirty="0"/>
            </a:br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2A554BD3-AE37-9DF9-D76E-0A1CD9E3DA09}"/>
              </a:ext>
            </a:extLst>
          </p:cNvPr>
          <p:cNvSpPr txBox="1"/>
          <p:nvPr/>
        </p:nvSpPr>
        <p:spPr>
          <a:xfrm>
            <a:off x="809625" y="2038350"/>
            <a:ext cx="4722495" cy="1354217"/>
          </a:xfrm>
          <a:prstGeom prst="rect">
            <a:avLst/>
          </a:prstGeom>
          <a:noFill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Strategia </a:t>
            </a:r>
            <a:r>
              <a:rPr lang="en-US" dirty="0">
                <a:solidFill>
                  <a:srgbClr val="0070C0"/>
                </a:solidFill>
              </a:rPr>
              <a:t>“Target-5”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1400" dirty="0"/>
              <a:t>Algoritmul </a:t>
            </a:r>
            <a:r>
              <a:rPr lang="ro-RO" sz="1400" dirty="0"/>
              <a:t>încearcă să obțină un preț final cu 5 lei mai mic decât al competitorului. Acesta </a:t>
            </a:r>
            <a:r>
              <a:rPr lang="ro-RO" sz="1400" dirty="0" err="1"/>
              <a:t>easte</a:t>
            </a:r>
            <a:r>
              <a:rPr lang="ro-RO" sz="1400" dirty="0"/>
              <a:t> prețul </a:t>
            </a:r>
            <a:r>
              <a:rPr lang="en-US" sz="1400" dirty="0"/>
              <a:t>“</a:t>
            </a:r>
            <a:r>
              <a:rPr lang="en-US" sz="1400" dirty="0" err="1"/>
              <a:t>psihologic</a:t>
            </a:r>
            <a:r>
              <a:rPr lang="en-US" sz="1400" dirty="0"/>
              <a:t>’’ </a:t>
            </a:r>
            <a:r>
              <a:rPr lang="en-US" sz="1400" dirty="0" err="1"/>
              <a:t>dorit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</a:t>
            </a:r>
            <a:r>
              <a:rPr lang="en-US" sz="1400" dirty="0" err="1"/>
              <a:t>atrage</a:t>
            </a:r>
            <a:r>
              <a:rPr lang="en-US" sz="1400" dirty="0"/>
              <a:t> client;.</a:t>
            </a:r>
            <a:endParaRPr lang="ro-RO" sz="1400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06F96376-B8A8-BA70-B499-D69F51521172}"/>
              </a:ext>
            </a:extLst>
          </p:cNvPr>
          <p:cNvSpPr txBox="1"/>
          <p:nvPr/>
        </p:nvSpPr>
        <p:spPr>
          <a:xfrm>
            <a:off x="6096000" y="1935921"/>
            <a:ext cx="4511040" cy="1569660"/>
          </a:xfrm>
          <a:prstGeom prst="rect">
            <a:avLst/>
          </a:prstGeom>
          <a:noFill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Ajustarea</a:t>
            </a:r>
            <a:r>
              <a:rPr lang="en-US" dirty="0">
                <a:solidFill>
                  <a:srgbClr val="0070C0"/>
                </a:solidFill>
              </a:rPr>
              <a:t> Invers</a:t>
            </a:r>
            <a:r>
              <a:rPr lang="ro-RO" dirty="0">
                <a:solidFill>
                  <a:srgbClr val="0070C0"/>
                </a:solidFill>
              </a:rPr>
              <a:t>ă</a:t>
            </a:r>
          </a:p>
          <a:p>
            <a:endParaRPr lang="ro-RO" dirty="0"/>
          </a:p>
          <a:p>
            <a:r>
              <a:rPr lang="ro-RO" dirty="0"/>
              <a:t> </a:t>
            </a:r>
            <a:r>
              <a:rPr lang="ro-RO" sz="1400" dirty="0"/>
              <a:t>Deoarece avem reducerii de aplicație (ex</a:t>
            </a:r>
            <a:r>
              <a:rPr lang="en-US" sz="1400" dirty="0"/>
              <a:t>: 20%) </a:t>
            </a:r>
            <a:r>
              <a:rPr lang="ro-RO" sz="1400" dirty="0"/>
              <a:t>și voucherele Rabla </a:t>
            </a:r>
            <a:r>
              <a:rPr lang="en-US" sz="1400" dirty="0"/>
              <a:t>(ex: 150 lei), </a:t>
            </a:r>
            <a:r>
              <a:rPr lang="en-US" sz="1400" dirty="0" err="1"/>
              <a:t>sistemul</a:t>
            </a:r>
            <a:r>
              <a:rPr lang="en-US" sz="1400" dirty="0"/>
              <a:t> </a:t>
            </a:r>
            <a:r>
              <a:rPr lang="en-US" sz="1400" dirty="0" err="1"/>
              <a:t>trebuie</a:t>
            </a:r>
            <a:r>
              <a:rPr lang="en-US" sz="1400" dirty="0"/>
              <a:t> </a:t>
            </a:r>
            <a:r>
              <a:rPr lang="ro-RO" sz="1400" dirty="0"/>
              <a:t>să calculeze </a:t>
            </a:r>
            <a:r>
              <a:rPr lang="en-US" sz="1400" dirty="0"/>
              <a:t>“</a:t>
            </a:r>
            <a:r>
              <a:rPr lang="en-US" sz="1400" dirty="0" err="1"/>
              <a:t>inapoi</a:t>
            </a:r>
            <a:r>
              <a:rPr lang="en-US" sz="1400" dirty="0"/>
              <a:t>” </a:t>
            </a:r>
            <a:r>
              <a:rPr lang="ro-RO" sz="1400" dirty="0"/>
              <a:t> ce preț să scriem pe etichetă pentru a ajunge la acea țintă:</a:t>
            </a:r>
          </a:p>
        </p:txBody>
      </p:sp>
    </p:spTree>
    <p:extLst>
      <p:ext uri="{BB962C8B-B14F-4D97-AF65-F5344CB8AC3E}">
        <p14:creationId xmlns:p14="http://schemas.microsoft.com/office/powerpoint/2010/main" val="76998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EDA4E57-13C5-FC41-75F2-40A1B95ACA35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u="sng" dirty="0" err="1">
                <a:solidFill>
                  <a:srgbClr val="002060"/>
                </a:solidFill>
                <a:effectLst/>
              </a:rPr>
              <a:t>Modelul</a:t>
            </a:r>
            <a:r>
              <a:rPr lang="en-US" u="sng" dirty="0">
                <a:solidFill>
                  <a:srgbClr val="002060"/>
                </a:solidFill>
                <a:effectLst/>
              </a:rPr>
              <a:t> </a:t>
            </a:r>
            <a:r>
              <a:rPr lang="en-US" u="sng" dirty="0" err="1">
                <a:solidFill>
                  <a:srgbClr val="002060"/>
                </a:solidFill>
                <a:effectLst/>
              </a:rPr>
              <a:t>Matematic</a:t>
            </a:r>
            <a:r>
              <a:rPr lang="en-US" u="sng" dirty="0">
                <a:solidFill>
                  <a:srgbClr val="002060"/>
                </a:solidFill>
                <a:effectLst/>
              </a:rPr>
              <a:t> </a:t>
            </a:r>
            <a:r>
              <a:rPr lang="en-US" u="sng" dirty="0" err="1">
                <a:solidFill>
                  <a:srgbClr val="002060"/>
                </a:solidFill>
                <a:effectLst/>
              </a:rPr>
              <a:t>implementat</a:t>
            </a:r>
            <a:endParaRPr lang="ro-RO" u="sng" dirty="0">
              <a:solidFill>
                <a:srgbClr val="002060"/>
              </a:solidFill>
              <a:effectLst/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60FCBBDE-3CD8-3D9D-E918-F9523FA1C614}"/>
              </a:ext>
            </a:extLst>
          </p:cNvPr>
          <p:cNvSpPr txBox="1"/>
          <p:nvPr/>
        </p:nvSpPr>
        <p:spPr>
          <a:xfrm>
            <a:off x="1243584" y="2489835"/>
            <a:ext cx="5111496" cy="120032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dirty="0"/>
              <a:t>                                  </a:t>
            </a:r>
            <a:r>
              <a:rPr lang="en-US" sz="3600" b="1" dirty="0">
                <a:solidFill>
                  <a:srgbClr val="00B050"/>
                </a:solidFill>
              </a:rPr>
              <a:t>7%</a:t>
            </a:r>
          </a:p>
          <a:p>
            <a:r>
              <a:rPr lang="en-US" sz="3600" dirty="0">
                <a:solidFill>
                  <a:srgbClr val="0070C0"/>
                </a:solidFill>
              </a:rPr>
              <a:t>Marj</a:t>
            </a:r>
            <a:r>
              <a:rPr lang="ro-RO" sz="3600" dirty="0">
                <a:solidFill>
                  <a:srgbClr val="0070C0"/>
                </a:solidFill>
              </a:rPr>
              <a:t>ă Minimă Protejată 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FC0D137D-716E-6549-F594-1339290CF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968" y="2489835"/>
            <a:ext cx="3381375" cy="847725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3C9B2C66-2326-98EA-C150-559793F1524D}"/>
              </a:ext>
            </a:extLst>
          </p:cNvPr>
          <p:cNvSpPr txBox="1"/>
          <p:nvPr/>
        </p:nvSpPr>
        <p:spPr>
          <a:xfrm>
            <a:off x="6787898" y="3522142"/>
            <a:ext cx="4462272" cy="73866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sz="1400" dirty="0"/>
              <a:t>Sistemul include un</a:t>
            </a:r>
            <a:r>
              <a:rPr lang="en-US" sz="1400" dirty="0"/>
              <a:t> “Fail-Safe”:</a:t>
            </a:r>
            <a:r>
              <a:rPr lang="ro-RO" sz="1400" dirty="0"/>
              <a:t> dacă prețul competitiv ne scade marja sub cea setată, algoritmul forțează prețul la pragul de rentabilitate minimă.</a:t>
            </a:r>
          </a:p>
        </p:txBody>
      </p:sp>
    </p:spTree>
    <p:extLst>
      <p:ext uri="{BB962C8B-B14F-4D97-AF65-F5344CB8AC3E}">
        <p14:creationId xmlns:p14="http://schemas.microsoft.com/office/powerpoint/2010/main" val="144475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25E0767-E40F-5137-0A0F-B6A60945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u="sng" dirty="0">
                <a:solidFill>
                  <a:srgbClr val="002060"/>
                </a:solidFill>
              </a:rPr>
              <a:t>Modulul de editare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9765720-61CE-5398-E403-BF0910FB803E}"/>
              </a:ext>
            </a:extLst>
          </p:cNvPr>
          <p:cNvSpPr txBox="1"/>
          <p:nvPr/>
        </p:nvSpPr>
        <p:spPr>
          <a:xfrm>
            <a:off x="1033272" y="2782383"/>
            <a:ext cx="640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Am utilizat </a:t>
            </a:r>
            <a:r>
              <a:rPr lang="ro-RO" sz="1400" dirty="0" err="1"/>
              <a:t>st.data_editor</a:t>
            </a:r>
            <a:r>
              <a:rPr lang="ro-RO" sz="1400" dirty="0"/>
              <a:t> pentru a oferi o </a:t>
            </a:r>
            <a:r>
              <a:rPr lang="ro-RO" sz="1400" dirty="0" err="1"/>
              <a:t>experință</a:t>
            </a:r>
            <a:r>
              <a:rPr lang="ro-RO" sz="1400" dirty="0"/>
              <a:t> similară cu Excel direct în browser.</a:t>
            </a:r>
          </a:p>
          <a:p>
            <a:endParaRPr lang="ro-RO" sz="1400" dirty="0"/>
          </a:p>
          <a:p>
            <a:r>
              <a:rPr lang="ro-RO" sz="1400" dirty="0"/>
              <a:t>Utilizatorul poate modifica în timp real costurile de achiziție sau stocurile, iar sistemul recalculează automat toți indicatorii de profitabilitate în tabelul de rezultate de mai jos.</a:t>
            </a:r>
          </a:p>
        </p:txBody>
      </p:sp>
    </p:spTree>
    <p:extLst>
      <p:ext uri="{BB962C8B-B14F-4D97-AF65-F5344CB8AC3E}">
        <p14:creationId xmlns:p14="http://schemas.microsoft.com/office/powerpoint/2010/main" val="57302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D99913A-34AE-0B95-C8E3-D8755BFA474A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ro-RO" dirty="0">
                <a:solidFill>
                  <a:srgbClr val="002060"/>
                </a:solidFill>
              </a:rPr>
              <a:t>Gestiunea erorilor de intrare</a:t>
            </a:r>
            <a:br>
              <a:rPr lang="ro-RO" dirty="0"/>
            </a:br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4A52F3E9-4C4E-3FAB-941E-CE818566AE00}"/>
              </a:ext>
            </a:extLst>
          </p:cNvPr>
          <p:cNvSpPr txBox="1"/>
          <p:nvPr/>
        </p:nvSpPr>
        <p:spPr>
          <a:xfrm>
            <a:off x="713232" y="2075688"/>
            <a:ext cx="4507992" cy="135421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Validarea imput</a:t>
            </a:r>
          </a:p>
          <a:p>
            <a:endParaRPr lang="ro-RO" dirty="0"/>
          </a:p>
          <a:p>
            <a:r>
              <a:rPr lang="ro-RO" dirty="0"/>
              <a:t> </a:t>
            </a:r>
            <a:r>
              <a:rPr lang="ro-RO" sz="1400" dirty="0"/>
              <a:t>Dacă un utilizator introduce text în coloana de costuri, sistemul detectează </a:t>
            </a:r>
            <a:r>
              <a:rPr lang="ro-RO" sz="1400" dirty="0" err="1"/>
              <a:t>eeroarea</a:t>
            </a:r>
            <a:r>
              <a:rPr lang="ro-RO" sz="1400" dirty="0"/>
              <a:t> via </a:t>
            </a:r>
            <a:r>
              <a:rPr lang="ro-RO" sz="1400" dirty="0" err="1"/>
              <a:t>ValueError</a:t>
            </a:r>
            <a:r>
              <a:rPr lang="ro-RO" sz="1400" dirty="0"/>
              <a:t> și previne blocarea aplicației.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076D6373-C3C2-759B-40CE-A95EC64057B4}"/>
              </a:ext>
            </a:extLst>
          </p:cNvPr>
          <p:cNvSpPr txBox="1"/>
          <p:nvPr/>
        </p:nvSpPr>
        <p:spPr>
          <a:xfrm>
            <a:off x="5943600" y="2011680"/>
            <a:ext cx="46725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Indicatori Vizualii</a:t>
            </a:r>
          </a:p>
          <a:p>
            <a:endParaRPr lang="ro-RO" dirty="0"/>
          </a:p>
          <a:p>
            <a:r>
              <a:rPr lang="ro-RO" sz="1400" dirty="0"/>
              <a:t> Statusurile colorate (      /      ) oferă feedback vizual imediat </a:t>
            </a:r>
            <a:r>
              <a:rPr lang="ro-RO" sz="1400" dirty="0" err="1"/>
              <a:t>asupara</a:t>
            </a:r>
            <a:r>
              <a:rPr lang="ro-RO" sz="1400" dirty="0"/>
              <a:t> sănătății financiare a fiecărei decizii </a:t>
            </a:r>
            <a:r>
              <a:rPr lang="ro-RO" sz="1400" dirty="0" err="1"/>
              <a:t>dee</a:t>
            </a:r>
            <a:r>
              <a:rPr lang="ro-RO" sz="1400" dirty="0"/>
              <a:t> preț.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32435E-4B94-323E-33F8-10334D7D147E}"/>
              </a:ext>
            </a:extLst>
          </p:cNvPr>
          <p:cNvSpPr/>
          <p:nvPr/>
        </p:nvSpPr>
        <p:spPr>
          <a:xfrm>
            <a:off x="7754112" y="2634030"/>
            <a:ext cx="210312" cy="21889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6DAA35-AE28-73D3-7920-6FAE599C148D}"/>
              </a:ext>
            </a:extLst>
          </p:cNvPr>
          <p:cNvSpPr/>
          <p:nvPr/>
        </p:nvSpPr>
        <p:spPr>
          <a:xfrm>
            <a:off x="8156448" y="2634030"/>
            <a:ext cx="210312" cy="218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04488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E513EA8-5B78-5CA5-2C08-D9D13462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solidFill>
                  <a:srgbClr val="002060"/>
                </a:solidFill>
              </a:rPr>
              <a:t>Rezultate Finale și export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9480C40-C7CD-BC7F-D84B-7F5CA7F0A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2606040"/>
            <a:ext cx="3162300" cy="1019175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1096C0B6-8CC0-6EC0-617F-9AF9E4000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2606040"/>
            <a:ext cx="1181100" cy="1019175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03C1F2F6-8E0E-6FC3-EBC4-CA01EAC2F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075" y="2606040"/>
            <a:ext cx="1685925" cy="1019175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1382473D-0EB9-B9DE-06F3-E3CA95E16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2606040"/>
            <a:ext cx="1771650" cy="1019175"/>
          </a:xfrm>
          <a:prstGeom prst="rect">
            <a:avLst/>
          </a:prstGeom>
        </p:spPr>
      </p:pic>
      <p:sp>
        <p:nvSpPr>
          <p:cNvPr id="12" name="CasetăText 11">
            <a:extLst>
              <a:ext uri="{FF2B5EF4-FFF2-40B4-BE49-F238E27FC236}">
                <a16:creationId xmlns:a16="http://schemas.microsoft.com/office/drawing/2014/main" id="{BAB83B86-A6E1-94D2-3F5A-C901E26617BD}"/>
              </a:ext>
            </a:extLst>
          </p:cNvPr>
          <p:cNvSpPr txBox="1"/>
          <p:nvPr/>
        </p:nvSpPr>
        <p:spPr>
          <a:xfrm>
            <a:off x="1279555" y="4215384"/>
            <a:ext cx="6630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Sistemul permite exportul instant în format CSV pentru integrarea cu ERP-ul companiei sau trimiterea listelor către departamentul comercial.</a:t>
            </a:r>
          </a:p>
        </p:txBody>
      </p:sp>
    </p:spTree>
    <p:extLst>
      <p:ext uri="{BB962C8B-B14F-4D97-AF65-F5344CB8AC3E}">
        <p14:creationId xmlns:p14="http://schemas.microsoft.com/office/powerpoint/2010/main" val="289877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6DBB5B3-B6B3-85E1-5B77-CF8FA2F8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23" y="2429256"/>
            <a:ext cx="10353761" cy="1326321"/>
          </a:xfrm>
        </p:spPr>
        <p:txBody>
          <a:bodyPr/>
          <a:lstStyle/>
          <a:p>
            <a:r>
              <a:rPr lang="ro-RO" dirty="0">
                <a:solidFill>
                  <a:srgbClr val="002060"/>
                </a:solidFill>
              </a:rPr>
              <a:t>Vă mulțumesc!</a:t>
            </a:r>
          </a:p>
        </p:txBody>
      </p:sp>
    </p:spTree>
    <p:extLst>
      <p:ext uri="{BB962C8B-B14F-4D97-AF65-F5344CB8AC3E}">
        <p14:creationId xmlns:p14="http://schemas.microsoft.com/office/powerpoint/2010/main" val="2494662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TM04033921[[fn=Damasc]]</Template>
  <TotalTime>20026</TotalTime>
  <Words>592</Words>
  <Application>Microsoft Office PowerPoint</Application>
  <PresentationFormat>Ecran lat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Retail Dynamic Pricing</vt:lpstr>
      <vt:lpstr>Viziunea și Obiectivele </vt:lpstr>
      <vt:lpstr>Tehnologii Utilizate</vt:lpstr>
      <vt:lpstr>Infrastructura de Date: load_data</vt:lpstr>
      <vt:lpstr>Parcurgeerea Robustă cu Regex </vt:lpstr>
      <vt:lpstr>Session State: Memoria Aplicației </vt:lpstr>
      <vt:lpstr>Motorul de calcul: Logică business </vt:lpstr>
      <vt:lpstr>Modelul Matematic implementat</vt:lpstr>
      <vt:lpstr>Modulul de editare</vt:lpstr>
      <vt:lpstr>Gestiunea erorilor de intrare </vt:lpstr>
      <vt:lpstr>Rezultate Finale și export </vt:lpstr>
      <vt:lpstr>Vă 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Nicolae Put</dc:creator>
  <cp:lastModifiedBy>Cristian Nicolae Put</cp:lastModifiedBy>
  <cp:revision>3</cp:revision>
  <dcterms:created xsi:type="dcterms:W3CDTF">2026-05-04T12:04:33Z</dcterms:created>
  <dcterms:modified xsi:type="dcterms:W3CDTF">2026-05-18T09:57:48Z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2026-05-04T12:08:02Z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34cb83d8-8160-41dd-b288-53bafad0409e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